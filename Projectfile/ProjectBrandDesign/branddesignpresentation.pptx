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  <p:sldMasterId id="2147483676" r:id="rId5"/>
    <p:sldMasterId id="2147483705" r:id="rId6"/>
  </p:sldMasterIdLst>
  <p:notesMasterIdLst>
    <p:notesMasterId r:id="rId24"/>
  </p:notesMasterIdLst>
  <p:handoutMasterIdLst>
    <p:handoutMasterId r:id="rId25"/>
  </p:handoutMasterIdLst>
  <p:sldIdLst>
    <p:sldId id="257" r:id="rId7"/>
    <p:sldId id="258" r:id="rId8"/>
    <p:sldId id="261" r:id="rId9"/>
    <p:sldId id="273" r:id="rId10"/>
    <p:sldId id="265" r:id="rId11"/>
    <p:sldId id="266" r:id="rId12"/>
    <p:sldId id="272" r:id="rId13"/>
    <p:sldId id="280" r:id="rId14"/>
    <p:sldId id="271" r:id="rId15"/>
    <p:sldId id="282" r:id="rId16"/>
    <p:sldId id="276" r:id="rId17"/>
    <p:sldId id="267" r:id="rId18"/>
    <p:sldId id="279" r:id="rId19"/>
    <p:sldId id="277" r:id="rId20"/>
    <p:sldId id="275" r:id="rId21"/>
    <p:sldId id="278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CA3"/>
    <a:srgbClr val="FFC000"/>
    <a:srgbClr val="FFE181"/>
    <a:srgbClr val="B7DEE8"/>
    <a:srgbClr val="E1192C"/>
    <a:srgbClr val="C5BEAA"/>
    <a:srgbClr val="9E9C9A"/>
    <a:srgbClr val="BFC0BC"/>
    <a:srgbClr val="83B4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E325B-51AA-40E2-A741-FDEEA3E7453C}" v="58" dt="2025-08-01T21:24:44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77853" autoAdjust="0"/>
  </p:normalViewPr>
  <p:slideViewPr>
    <p:cSldViewPr>
      <p:cViewPr>
        <p:scale>
          <a:sx n="53" d="100"/>
          <a:sy n="53" d="100"/>
        </p:scale>
        <p:origin x="1152" y="1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3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6FF55-857D-41F1-976B-20E2AC46BB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DCC9D-824E-42DD-AE91-C646680FCF7B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60858-C006-47A2-8ABD-7DB6225520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8340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FA2A2-9C1E-43AD-AAD1-AD1CBB72BCAD}" type="datetimeFigureOut">
              <a:rPr lang="en-GB" smtClean="0"/>
              <a:t>02/08/2025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4FF3E-3971-463A-969D-FC93833F08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58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6D13BC-C7F6-0D44-BEEC-B8FE506D1D44}" type="slidenum">
              <a:rPr lang="en-US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pPr/>
              <a:t>1</a:t>
            </a:fld>
            <a:endParaRPr lang="en-US" dirty="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4FF3E-3971-463A-969D-FC93833F08F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64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BAE865C-1AFE-CA8E-5339-814050995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738" y="2329265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80BED96-B383-F37B-6407-6352E84237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2738" y="3286566"/>
            <a:ext cx="5606598" cy="915587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Slide Headline Text in Arial Black 32pt</a:t>
            </a:r>
            <a:endParaRPr lang="en-SG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9" y="4591513"/>
            <a:ext cx="2232461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Arial Bold 20pt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51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9CDD1712-8A0B-F78D-BA91-3055A335B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66" y="3300664"/>
            <a:ext cx="9961347" cy="1842467"/>
          </a:xfrm>
        </p:spPr>
        <p:txBody>
          <a:bodyPr>
            <a:noAutofit/>
          </a:bodyPr>
          <a:lstStyle>
            <a:lvl1pPr marL="0" indent="0">
              <a:buNone/>
              <a:defRPr sz="500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Slide without image Arial Black 50pt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7" y="5509800"/>
            <a:ext cx="3224566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491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 userDrawn="1"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D870B89D-DB4F-81BC-18C4-349A04D83B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01155" y="2619879"/>
            <a:ext cx="6044487" cy="1753547"/>
          </a:xfrm>
        </p:spPr>
        <p:txBody>
          <a:bodyPr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(Arial Black 54)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084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4" y="1593023"/>
            <a:ext cx="7339144" cy="3671953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bullet content here (Arial regular 20)</a:t>
            </a:r>
            <a:endParaRPr lang="en-SG" dirty="0"/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571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DB1D4C1F-9047-AC8E-2366-8C79CD0E9C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034" y="5844791"/>
            <a:ext cx="9254398" cy="82786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bullet content here (Arial regular 20)</a:t>
            </a:r>
            <a:endParaRPr lang="en-SG" dirty="0"/>
          </a:p>
        </p:txBody>
      </p:sp>
      <p:sp>
        <p:nvSpPr>
          <p:cNvPr id="8" name="Picture Placeholder 27">
            <a:extLst>
              <a:ext uri="{FF2B5EF4-FFF2-40B4-BE49-F238E27FC236}">
                <a16:creationId xmlns:a16="http://schemas.microsoft.com/office/drawing/2014/main" id="{A9075BAF-3C73-F47C-A86B-A378C97165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220" y="1593023"/>
            <a:ext cx="9256212" cy="40682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339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DB1D4C1F-9047-AC8E-2366-8C79CD0E9C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034" y="1593023"/>
            <a:ext cx="9254398" cy="50796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bullet content here (Arial regular 20)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075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ext Placeholder 50">
            <a:extLst>
              <a:ext uri="{FF2B5EF4-FFF2-40B4-BE49-F238E27FC236}">
                <a16:creationId xmlns:a16="http://schemas.microsoft.com/office/drawing/2014/main" id="{DB1D4C1F-9047-AC8E-2366-8C79CD0E9C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034" y="1593023"/>
            <a:ext cx="6662110" cy="47883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bullet content here (Arial regular 20)</a:t>
            </a:r>
            <a:endParaRPr lang="en-SG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425A5628-62B5-A24C-F58A-42AABEBE6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08168" y="1594704"/>
            <a:ext cx="3960440" cy="4786624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605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7D2C55-815E-9B4F-C350-98157CF8B8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951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F720A-26F6-8E36-6B81-4A4A7E5DB6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0E5FD-D6F5-C20D-27BA-CAB42634B7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22" name="Text Placeholder 50">
            <a:extLst>
              <a:ext uri="{FF2B5EF4-FFF2-40B4-BE49-F238E27FC236}">
                <a16:creationId xmlns:a16="http://schemas.microsoft.com/office/drawing/2014/main" id="{FF149D6B-C7CC-1170-E516-5D13610D4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9B715452-E53F-B5B6-859C-312AD8BD67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157" y="1758951"/>
            <a:ext cx="4561305" cy="3798888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00B3FF-B498-68D3-6FCA-BCAEAC55B3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47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BC46A-7012-40EB-2F7B-3D5141B76B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61DFF-2383-8027-7F67-4DA3232280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4FA6F8D9-C635-CCB4-B560-58E8A15426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7A1356C5-4D12-9F92-9C49-F66588AFCF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6346" y="1868655"/>
            <a:ext cx="6221105" cy="4586145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paragraph here (Arial Regular 30)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56DF607B-D9F4-1154-0EB1-1F853BB64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8758" y="1868654"/>
            <a:ext cx="3506896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D4C76E-5EA7-E7B3-1001-642C0680EA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690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5A3A1-50CE-5942-F47A-2B2384F3E8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7C0CB-EA13-9E14-290E-996A679769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BD0127E9-CB64-551D-B92E-5C23356CCD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7ECDA8E-9819-1094-88BC-C24F570CE5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5855" y="1868654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3DE16804-2BF1-6D35-32C1-EB67C6642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877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header paragraph here (Arial Bold 20)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036EC7F8-4081-9C7E-0EF8-AA007EF75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9866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25EC81-2655-02F1-38C9-02A0001E18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35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87D4D4E-A120-0899-9647-77A34C5BB6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167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AA8302-379E-8A58-FEE2-5127A504B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2338" y="1758167"/>
            <a:ext cx="5359400" cy="3798888"/>
          </a:xfrm>
        </p:spPr>
        <p:txBody>
          <a:bodyPr/>
          <a:lstStyle/>
          <a:p>
            <a:endParaRPr lang="en-SG"/>
          </a:p>
        </p:txBody>
      </p:sp>
      <p:sp>
        <p:nvSpPr>
          <p:cNvPr id="18" name="Text Placeholder 50">
            <a:extLst>
              <a:ext uri="{FF2B5EF4-FFF2-40B4-BE49-F238E27FC236}">
                <a16:creationId xmlns:a16="http://schemas.microsoft.com/office/drawing/2014/main" id="{706544CC-C719-1DAA-4B3B-83884630C0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0962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111F9-5B56-4AC6-8438-F13B8D36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C102F-B20A-428C-B217-085221D1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9CC39-1133-4844-9668-A32952B5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1298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6E6F944-4E3D-4AED-B761-FDFEE4D33B56}"/>
              </a:ext>
            </a:extLst>
          </p:cNvPr>
          <p:cNvSpPr>
            <a:spLocks/>
          </p:cNvSpPr>
          <p:nvPr userDrawn="1"/>
        </p:nvSpPr>
        <p:spPr bwMode="auto">
          <a:xfrm flipH="1">
            <a:off x="0" y="620688"/>
            <a:ext cx="9856734" cy="77630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31775" indent="0" algn="l"/>
            <a:r>
              <a:rPr lang="en-US" altLang="en-US" sz="1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CA3DE6-A846-4CFF-9050-4ABC91FE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0688"/>
            <a:ext cx="9247134" cy="755665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1EFEC2-9EA3-47A1-BEC2-169EC58837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28800"/>
            <a:ext cx="5846440" cy="4608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BD8E7-A228-4F76-A7D9-14821A373D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0056" y="1628800"/>
            <a:ext cx="4680520" cy="460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742950" indent="-285750">
              <a:buFont typeface="Arial" pitchFamily="34" charset="0"/>
              <a:buChar char="•"/>
              <a:defRPr sz="2000"/>
            </a:lvl2pPr>
            <a:lvl3pPr>
              <a:defRPr sz="2000"/>
            </a:lvl3pPr>
            <a:lvl4pPr marL="1600200" indent="-228600">
              <a:buFont typeface="Arial" pitchFamily="34" charset="0"/>
              <a:buChar char="•"/>
              <a:defRPr sz="2000"/>
            </a:lvl4pPr>
            <a:lvl5pPr marL="2057400" indent="-228600">
              <a:buFont typeface="Arial" pitchFamily="34" charset="0"/>
              <a:buChar char="•"/>
              <a:defRPr sz="2000"/>
            </a:lvl5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780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9CDD1712-8A0B-F78D-BA91-3055A335B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66" y="3300664"/>
            <a:ext cx="9961347" cy="1842467"/>
          </a:xfrm>
        </p:spPr>
        <p:txBody>
          <a:bodyPr>
            <a:noAutofit/>
          </a:bodyPr>
          <a:lstStyle>
            <a:lvl1pPr marL="0" indent="0">
              <a:buNone/>
              <a:defRPr sz="500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Slide without image Arial Black 50pt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7" y="5509800"/>
            <a:ext cx="3224566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6356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89D7B-9665-47C1-BCA8-86239A19F2FE}"/>
              </a:ext>
            </a:extLst>
          </p:cNvPr>
          <p:cNvSpPr txBox="1">
            <a:spLocks/>
          </p:cNvSpPr>
          <p:nvPr userDrawn="1"/>
        </p:nvSpPr>
        <p:spPr>
          <a:xfrm>
            <a:off x="0" y="711200"/>
            <a:ext cx="8229600" cy="7064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 Rounded MT Bold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3200"/>
              <a:t>Click to edit Master title style</a:t>
            </a:r>
            <a:endParaRPr lang="en-SG" sz="3200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2E9B0C1E-1B32-4C32-9E81-080A5F3BC8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920818" y="468313"/>
            <a:ext cx="2059516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Fundamental of Design</a:t>
            </a:r>
          </a:p>
          <a:p>
            <a:pPr eaLnBrk="1" hangingPunct="1">
              <a:defRPr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C257 | RP SOI</a:t>
            </a:r>
          </a:p>
          <a:p>
            <a:pPr eaLnBrk="1" hangingPunct="1">
              <a:defRPr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6</a:t>
            </a:r>
            <a:r>
              <a:rPr lang="en-US" sz="1000" baseline="30000" dirty="0">
                <a:solidFill>
                  <a:srgbClr val="FFFFFF"/>
                </a:solidFill>
                <a:latin typeface="Calibri" pitchFamily="34" charset="0"/>
              </a:rPr>
              <a:t>th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 PRESENTATION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1A7FC7-D3BB-4FE4-ACD3-D2DF339C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2715403"/>
            <a:ext cx="9247134" cy="755665"/>
          </a:xfrm>
        </p:spPr>
        <p:txBody>
          <a:bodyPr/>
          <a:lstStyle>
            <a:lvl1pPr>
              <a:defRPr sz="3600">
                <a:solidFill>
                  <a:srgbClr val="FFC000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3133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6E6F944-4E3D-4AED-B761-FDFEE4D33B56}"/>
              </a:ext>
            </a:extLst>
          </p:cNvPr>
          <p:cNvSpPr>
            <a:spLocks/>
          </p:cNvSpPr>
          <p:nvPr userDrawn="1"/>
        </p:nvSpPr>
        <p:spPr bwMode="auto">
          <a:xfrm flipH="1">
            <a:off x="0" y="620688"/>
            <a:ext cx="9856734" cy="77630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31775" indent="0" algn="l"/>
            <a:r>
              <a:rPr lang="en-US" altLang="en-US" sz="1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CA3DE6-A846-4CFF-9050-4ABC91FE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0688"/>
            <a:ext cx="9247134" cy="755665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1EFEC2-9EA3-47A1-BEC2-169EC58837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28800"/>
            <a:ext cx="10967613" cy="460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742950" indent="-285750">
              <a:buFont typeface="Arial" pitchFamily="34" charset="0"/>
              <a:buChar char="•"/>
              <a:defRPr sz="2000"/>
            </a:lvl2pPr>
            <a:lvl3pPr>
              <a:defRPr sz="2000"/>
            </a:lvl3pPr>
            <a:lvl4pPr marL="1600200" indent="-228600">
              <a:buFont typeface="Arial" pitchFamily="34" charset="0"/>
              <a:buChar char="•"/>
              <a:defRPr sz="2000"/>
            </a:lvl4pPr>
            <a:lvl5pPr marL="2057400" indent="-228600"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3006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6E6F944-4E3D-4AED-B761-FDFEE4D33B56}"/>
              </a:ext>
            </a:extLst>
          </p:cNvPr>
          <p:cNvSpPr>
            <a:spLocks/>
          </p:cNvSpPr>
          <p:nvPr userDrawn="1"/>
        </p:nvSpPr>
        <p:spPr bwMode="auto">
          <a:xfrm flipH="1">
            <a:off x="0" y="620688"/>
            <a:ext cx="9856734" cy="77630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31775" indent="0" algn="l"/>
            <a:r>
              <a:rPr lang="en-US" altLang="en-US" sz="1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CA3DE6-A846-4CFF-9050-4ABC91FE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0688"/>
            <a:ext cx="9247134" cy="755665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1EFEC2-9EA3-47A1-BEC2-169EC58837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28800"/>
            <a:ext cx="5846440" cy="4608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Arial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itchFamily="34" charset="0"/>
              <a:buChar char="•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BD8E7-A228-4F76-A7D9-14821A373D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0056" y="1628800"/>
            <a:ext cx="4680520" cy="460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742950" indent="-285750">
              <a:buFont typeface="Arial" pitchFamily="34" charset="0"/>
              <a:buChar char="•"/>
              <a:defRPr sz="2000"/>
            </a:lvl2pPr>
            <a:lvl3pPr>
              <a:defRPr sz="2000"/>
            </a:lvl3pPr>
            <a:lvl4pPr marL="1600200" indent="-228600">
              <a:buFont typeface="Arial" pitchFamily="34" charset="0"/>
              <a:buChar char="•"/>
              <a:defRPr sz="2000"/>
            </a:lvl4pPr>
            <a:lvl5pPr marL="2057400" indent="-228600">
              <a:buFont typeface="Arial" pitchFamily="34" charset="0"/>
              <a:buChar char="•"/>
              <a:defRPr sz="2000"/>
            </a:lvl5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1997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52E3-160E-402E-AECA-D2B04620E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6FD2E-C74E-4A06-B9CE-60C881A0C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A6DBF-DE09-4724-8B2D-C8860B97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ECCEF-BF9A-49E5-9C57-DC0EB151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C0A5E-375A-49DD-866F-25888FC2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4025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AE07-85BE-45EC-B374-BA1A9A97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4E878-8315-4C9B-B02E-99BD2DB88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B437B-F388-46B0-A874-0ACC3D6A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BBBA5-CC99-46E0-90DD-863ECCC3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A6A02-C034-4B61-A0B4-F62127A0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9657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7A0D-1938-4F2C-B3F9-EFC2358F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443DE-6785-4DD4-B1E8-E03CB902F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A0F8D-D287-417F-905F-8853E2DD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E8AE-5FF5-4E11-BCD1-5C57B6AE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FB10A-149B-4484-9AE6-6DC2B9A6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25528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49AA-3216-4820-AE09-AB49B2EB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E415-2319-4F04-A3CD-0EF0E36A2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3457A-FB44-4313-BCCE-74CA4314C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9DA54-69C2-45DF-AF46-F2A8D4A8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5E1EE-99EB-46D7-AAF9-A7AA6E17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71832-DFFA-4EB6-8CA3-1AB94DD9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0621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6C49-7660-4BA9-B948-9DD692F0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69046-7643-4C0F-B72B-BEF193930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75C7F-7DC1-40C0-8D66-9473DF63F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45948-08B9-4A0A-88E3-0F26688E5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1BBB8-FCB6-423F-8B26-92B0806FE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5B1D3-94DA-4FD5-92A4-E4FBEEFF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F79A6-EED2-4AD9-9FE6-5E4A97C6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DD668-C576-436F-A92A-DD3A9662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1851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C7D0-83D9-48C8-997F-3C003B45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C62DC-EB7A-4A91-BBC7-7F009429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72D9B-C531-47EC-8F2B-F6FF886A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73AAE-F9B8-4D2E-8331-83F05676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6610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111F9-5B56-4AC6-8438-F13B8D36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C102F-B20A-428C-B217-085221D1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9CC39-1133-4844-9668-A32952B5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02308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2546-6672-40AF-B2F4-467E185E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F2969-6E16-4153-B913-63036ED8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E824F-9397-4105-B12A-B754E4C4E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9C69A-1DF1-455B-A41E-66705EA1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4E650-DD2E-4349-80D6-62F26956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AAE16-D3FF-42B7-AA7E-BF9E3D7C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93114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E723-0D9C-422A-B1D7-8B6B9865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AA817-1E2B-4CFB-860F-5978D6C5F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91DB6-673F-4C97-ACAF-E9EBEE835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C9A81-B648-43A0-969B-8F07D545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7FEE9-9B1D-4D03-B152-E3038630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91BB3-D01E-4CE2-BC2E-B9699575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288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1755-CC13-4568-B34B-63268C95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F0FB2-0DA5-40E3-AE5E-4E6627F98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75B25-5D06-4671-8ACD-7003ED98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B69BF-5A02-465E-B509-26ABDA05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9FD1-7A12-4E95-B5E9-6834B3EA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8193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03401-B8F9-4C01-B5C0-7C0F63A18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9BC78-6A3F-4F27-A2B6-59A779AE6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7525-DA3B-4FE1-9F5B-D7E8CF88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D7296-3279-4FCC-84B6-97912FBF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801C0-E794-4EDC-9F8B-FF831EEA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47222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662748" y="6356351"/>
            <a:ext cx="2866504" cy="365125"/>
          </a:xfrm>
        </p:spPr>
        <p:txBody>
          <a:bodyPr/>
          <a:lstStyle/>
          <a:p>
            <a:r>
              <a:rPr lang="en-SG" dirty="0"/>
              <a:t>T252-Fundamentals of Design 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609600" y="1417638"/>
            <a:ext cx="10967613" cy="481967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42950" indent="-285750">
              <a:buFont typeface="Arial" pitchFamily="34" charset="0"/>
              <a:buChar char="•"/>
              <a:defRPr sz="2000"/>
            </a:lvl2pPr>
            <a:lvl3pPr>
              <a:defRPr sz="2000"/>
            </a:lvl3pPr>
            <a:lvl4pPr marL="1600200" indent="-228600">
              <a:buFont typeface="Arial" pitchFamily="34" charset="0"/>
              <a:buChar char="•"/>
              <a:defRPr sz="2000"/>
            </a:lvl4pPr>
            <a:lvl5pPr marL="2057400" indent="-228600"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1686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89D7B-9665-47C1-BCA8-86239A19F2FE}"/>
              </a:ext>
            </a:extLst>
          </p:cNvPr>
          <p:cNvSpPr txBox="1">
            <a:spLocks/>
          </p:cNvSpPr>
          <p:nvPr userDrawn="1"/>
        </p:nvSpPr>
        <p:spPr>
          <a:xfrm>
            <a:off x="0" y="711200"/>
            <a:ext cx="8229600" cy="7064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 Rounded MT Bold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/>
              <a:t>Click to edit Master title style</a:t>
            </a:r>
            <a:endParaRPr lang="en-SG" sz="2400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65165E-DEFC-403A-8DD9-C24E43AC44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53969" y="384175"/>
            <a:ext cx="3738033" cy="673100"/>
          </a:xfrm>
          <a:custGeom>
            <a:avLst/>
            <a:gdLst>
              <a:gd name="T0" fmla="*/ 2375 w 2803219"/>
              <a:gd name="T1" fmla="*/ 0 h 674518"/>
              <a:gd name="T2" fmla="*/ 2797298 w 2803219"/>
              <a:gd name="T3" fmla="*/ 0 h 674518"/>
              <a:gd name="T4" fmla="*/ 2797298 w 2803219"/>
              <a:gd name="T5" fmla="*/ 670125 h 674518"/>
              <a:gd name="T6" fmla="*/ 361718 w 2803219"/>
              <a:gd name="T7" fmla="*/ 673652 h 674518"/>
              <a:gd name="T8" fmla="*/ 0 w 2803219"/>
              <a:gd name="T9" fmla="*/ 326098 h 674518"/>
              <a:gd name="T10" fmla="*/ 2375 w 2803219"/>
              <a:gd name="T11" fmla="*/ 0 h 6745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03219"/>
              <a:gd name="T19" fmla="*/ 0 h 674518"/>
              <a:gd name="T20" fmla="*/ 2803219 w 2803219"/>
              <a:gd name="T21" fmla="*/ 674518 h 6745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03219" h="674518">
                <a:moveTo>
                  <a:pt x="2375" y="0"/>
                </a:moveTo>
                <a:lnTo>
                  <a:pt x="2803219" y="0"/>
                </a:lnTo>
                <a:lnTo>
                  <a:pt x="2803219" y="670987"/>
                </a:lnTo>
                <a:lnTo>
                  <a:pt x="362486" y="674518"/>
                </a:lnTo>
                <a:cubicBezTo>
                  <a:pt x="82785" y="672671"/>
                  <a:pt x="792" y="441341"/>
                  <a:pt x="0" y="326518"/>
                </a:cubicBezTo>
                <a:cubicBezTo>
                  <a:pt x="792" y="217679"/>
                  <a:pt x="1583" y="108839"/>
                  <a:pt x="2375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350"/>
              <a:t>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2E9B0C1E-1B32-4C32-9E81-080A5F3BC8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920819" y="468313"/>
            <a:ext cx="2059516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</a:rPr>
              <a:t>Fundamental of Design</a:t>
            </a:r>
          </a:p>
          <a:p>
            <a:pPr eaLnBrk="1" hangingPunct="1">
              <a:defRPr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</a:rPr>
              <a:t>C252 | RP SOI</a:t>
            </a:r>
          </a:p>
          <a:p>
            <a:pPr eaLnBrk="1" hangingPunct="1">
              <a:defRPr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</a:rPr>
              <a:t>6</a:t>
            </a:r>
            <a:r>
              <a:rPr lang="en-US" sz="750" baseline="30000" dirty="0">
                <a:solidFill>
                  <a:srgbClr val="FFFFFF"/>
                </a:solidFill>
                <a:latin typeface="Calibri" pitchFamily="34" charset="0"/>
              </a:rPr>
              <a:t>th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</a:rPr>
              <a:t> PRESENTATION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ECD9-2D09-4CA2-A470-5B4EC2088A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5EA7A-773C-4812-865C-A09A15F8CB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921EA-DD1A-43D3-BF18-AE0DEDF6F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41BF971-6155-42B1-9150-9EDD8398C2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1A7FC7-D3BB-4FE4-ACD3-D2DF339C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5" y="2715405"/>
            <a:ext cx="9247135" cy="755665"/>
          </a:xfrm>
        </p:spPr>
        <p:txBody>
          <a:bodyPr/>
          <a:lstStyle>
            <a:lvl1pPr>
              <a:defRPr sz="2700">
                <a:solidFill>
                  <a:srgbClr val="FFC000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86635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777104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2642503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0466046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8791078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2604119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49720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79618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2673999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8643534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2298630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546218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249705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6305272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826302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0488407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344468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756299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6" name="Text Placeholder 50">
            <a:extLst>
              <a:ext uri="{FF2B5EF4-FFF2-40B4-BE49-F238E27FC236}">
                <a16:creationId xmlns:a16="http://schemas.microsoft.com/office/drawing/2014/main" id="{9CDD1712-8A0B-F78D-BA91-3055A335B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66" y="3300664"/>
            <a:ext cx="9961347" cy="1842467"/>
          </a:xfrm>
        </p:spPr>
        <p:txBody>
          <a:bodyPr>
            <a:noAutofit/>
          </a:bodyPr>
          <a:lstStyle>
            <a:lvl1pPr marL="0" indent="0">
              <a:buNone/>
              <a:defRPr sz="500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Slide without image Arial Black 50pt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7" y="5509800"/>
            <a:ext cx="3224566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25647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4" y="1593023"/>
            <a:ext cx="7339144" cy="3671953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bullet content here (Arial regular 20)</a:t>
            </a:r>
            <a:endParaRPr lang="en-SG" dirty="0"/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8220" y="785813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8757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F90C-6A25-7B45-4D40-4AF6365F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91A6-E80A-E271-1A2A-66F1BFA64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4A59-448E-11D4-4086-32DAF3655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392C-91E6-369E-D0BC-1388ADF10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CD6-1D19-30A9-A10A-87EC3E46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A56C8-5334-C4ED-C577-FCA7D7C68E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390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09CE8-CD24-4E7A-9696-5368C8CF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61AF8-CB92-4CD5-8A6A-E969F4B3F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96C4-6E6F-4DF7-AEA0-3407C8CE7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9DF44-8E71-4026-A9E4-40D4E2E179B0}" type="datetimeFigureOut">
              <a:rPr lang="en-SG" smtClean="0"/>
              <a:t>2/8/2025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2E451-24AB-4B02-9F51-361CAA0FF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3268-D0C8-46D4-9B7A-7B86D883E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3926D-B539-4150-87F4-A62793998BA1}" type="slidenum">
              <a:rPr lang="en-SG" smtClean="0"/>
              <a:t>‹#›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9E94F-E04E-AD31-8E44-BF5166A53217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580" y="6381328"/>
            <a:ext cx="970012" cy="43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2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73" r:id="rId2"/>
    <p:sldLayoutId id="2147483674" r:id="rId3"/>
    <p:sldLayoutId id="2147483675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15600C-AC52-4A7A-B61A-C2D281744F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2389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D42B3B-2DC6-A22E-7D7A-B5CBFE309F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416" y="1643148"/>
            <a:ext cx="3744913" cy="30395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Date : 2/8/2025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B56CCD-C392-4310-124C-F317112A33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9416" y="2636912"/>
            <a:ext cx="9961347" cy="1842467"/>
          </a:xfrm>
        </p:spPr>
        <p:txBody>
          <a:bodyPr/>
          <a:lstStyle/>
          <a:p>
            <a:pPr marL="0" marR="0">
              <a:lnSpc>
                <a:spcPct val="100000"/>
              </a:lnSpc>
              <a:spcBef>
                <a:spcPts val="0"/>
              </a:spcBef>
            </a:pPr>
            <a:r>
              <a:rPr lang="en-SG" sz="36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Assignment: 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</a:pPr>
            <a:endParaRPr lang="en-SG" sz="1050" b="1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</a:pPr>
            <a:r>
              <a:rPr lang="en-SG" sz="5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Brand me</a:t>
            </a:r>
            <a:endParaRPr lang="en-GB" sz="5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D7B2C-F8CD-857A-7100-DA2D58357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417" y="4846048"/>
            <a:ext cx="3224566" cy="673200"/>
          </a:xfrm>
        </p:spPr>
        <p:txBody>
          <a:bodyPr/>
          <a:lstStyle/>
          <a:p>
            <a:r>
              <a:rPr lang="en-GB" dirty="0"/>
              <a:t>Student ID: 24020989 </a:t>
            </a:r>
          </a:p>
          <a:p>
            <a:r>
              <a:rPr lang="en-GB" dirty="0"/>
              <a:t>Name: </a:t>
            </a:r>
            <a:r>
              <a:rPr lang="en-GB" dirty="0" err="1"/>
              <a:t>Arshadha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7CB9DA2-7A83-6F26-1A61-F00942D809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dirty="0"/>
              <a:t>My portfolio theme, "Neon Glow", is inspired by neon signage and cyberpunk visuals. It represents bold creativity, individuality, and the future of digital design. I want to present myself as a vibrant designer and coder who embraces both modern trends and classic inspirations. The neon aesthetic also reflects a strong personal identity and a love for vibrant, glowing interfaces.</a:t>
            </a:r>
            <a:endParaRPr lang="en-GB" sz="1800" kern="1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6F6F3F-2643-26EF-B739-CCFE163667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Introduction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3644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414B-BC4B-F9BB-C9DD-9019EB89B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B5E9CF1-F226-065D-803C-C82E33B21E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0" indent="0">
              <a:buNone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Target Audience of your portfolio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Age:</a:t>
            </a:r>
            <a:r>
              <a:rPr lang="en-US" altLang="en-US" sz="1800" dirty="0"/>
              <a:t> 17–30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Gender:</a:t>
            </a:r>
            <a:r>
              <a:rPr lang="en-US" altLang="en-US" sz="1800" dirty="0"/>
              <a:t> All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Income Bracket:</a:t>
            </a:r>
            <a:r>
              <a:rPr lang="en-US" altLang="en-US" sz="1800" dirty="0"/>
              <a:t> Students to early-career professionals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Education Level:</a:t>
            </a:r>
            <a:r>
              <a:rPr lang="en-US" altLang="en-US" sz="1800" dirty="0"/>
              <a:t> Polytechnic/University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Computer Literacy:</a:t>
            </a:r>
            <a:r>
              <a:rPr lang="en-US" altLang="en-US" sz="1800" dirty="0"/>
              <a:t> Medium to High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Motivation to Use the App:</a:t>
            </a:r>
            <a:r>
              <a:rPr lang="en-US" altLang="en-US" sz="1800" dirty="0"/>
              <a:t> To view my portfolio, contact me for internships or freelance 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/>
              <a:t>Preferences:</a:t>
            </a:r>
            <a:r>
              <a:rPr lang="en-US" altLang="en-US" sz="1800" dirty="0"/>
              <a:t> Unique visuals, clean layout, fun interactive experience</a:t>
            </a:r>
            <a:endParaRPr lang="en-GB" sz="2000" dirty="0">
              <a:solidFill>
                <a:prstClr val="black"/>
              </a:solidFill>
              <a:latin typeface="Arial Black" panose="020B0A04020102020204" pitchFamily="34" charset="0"/>
            </a:endParaRPr>
          </a:p>
          <a:p>
            <a:pPr marL="114300" indent="0">
              <a:buNone/>
            </a:pPr>
            <a:r>
              <a:rPr lang="en-GB" dirty="0">
                <a:latin typeface="Arial Black" panose="020B0A04020102020204" pitchFamily="34" charset="0"/>
              </a:rPr>
              <a:t>Portfolio Theme</a:t>
            </a:r>
          </a:p>
          <a:p>
            <a:pPr lvl="1"/>
            <a:r>
              <a:rPr lang="en-US" sz="1800" dirty="0"/>
              <a:t>A digital portfolio themed like neon signs at night – bright, energetic, and modern. I use electric colors like cyan, magenta, and lime green with black backgrounds to make the glowing elements pop. This reflects creativity and individuality while maintaining a clean structure.</a:t>
            </a:r>
            <a:endParaRPr lang="en-GB" dirty="0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07AFF5-FFC6-9A66-1DFD-03A39FEEBC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Human-Centred Design</a:t>
            </a:r>
          </a:p>
        </p:txBody>
      </p:sp>
    </p:spTree>
    <p:extLst>
      <p:ext uri="{BB962C8B-B14F-4D97-AF65-F5344CB8AC3E}">
        <p14:creationId xmlns:p14="http://schemas.microsoft.com/office/powerpoint/2010/main" val="113365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A7BA-FE5F-FC48-B71B-FE955E26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B111CB7-C0E7-D9C7-D307-752D629E6A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 a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colour scheme, colour palette and typography guide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tailored for student users.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Ensure consistency across all designed elements.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SG" sz="1800" dirty="0">
              <a:effectLst/>
              <a:latin typeface="Segoe UI Emoji" panose="020B0502040204020203" pitchFamily="34" charset="0"/>
              <a:ea typeface="SimSun" panose="02010600030101010101" pitchFamily="2" charset="-122"/>
              <a:cs typeface="Segoe UI Emoji" panose="020B0502040204020203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Example:</a:t>
            </a:r>
            <a:endParaRPr lang="en-SG" sz="1800" b="1" dirty="0">
              <a:effectLst/>
              <a:latin typeface="Segoe UI Emoji" panose="020B0502040204020203" pitchFamily="34" charset="0"/>
              <a:ea typeface="SimSun" panose="02010600030101010101" pitchFamily="2" charset="-122"/>
              <a:cs typeface="Segoe UI Emoji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Colour scheme:   Analogous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Colour palette: 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SG" sz="800" dirty="0"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a typeface="SimSun" panose="02010600030101010101" pitchFamily="2" charset="-122"/>
                <a:cs typeface="Times New Roman" panose="02020603050405020304" pitchFamily="18" charset="0"/>
              </a:rPr>
              <a:t>Typography used:</a:t>
            </a: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SG" sz="1800" dirty="0">
                <a:effectLst/>
                <a:latin typeface="Montserrat SemiBold" panose="00000700000000000000" pitchFamily="2" charset="0"/>
                <a:ea typeface="SimSun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SG" sz="2400" dirty="0" err="1">
                <a:effectLst/>
                <a:latin typeface="Orbitron ExtraBold" pitchFamily="2" charset="0"/>
                <a:ea typeface="SimSun" panose="02010600030101010101" pitchFamily="2" charset="-122"/>
                <a:cs typeface="Times New Roman" panose="02020603050405020304" pitchFamily="18" charset="0"/>
              </a:rPr>
              <a:t>Orbitron</a:t>
            </a:r>
            <a:endParaRPr lang="en-SG" sz="2400" dirty="0">
              <a:effectLst/>
              <a:latin typeface="Orbitron ExtraBold" pitchFamily="2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r>
              <a:rPr lang="en-SG" sz="2400" dirty="0">
                <a:latin typeface="Congenial UltraLight" panose="020F0502020204030204" pitchFamily="2" charset="0"/>
                <a:ea typeface="SimSun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SG" sz="2400" dirty="0" err="1">
                <a:latin typeface="Bahnschrift" panose="020B0502040204020203" pitchFamily="34" charset="0"/>
                <a:ea typeface="SimSun" panose="02010600030101010101" pitchFamily="2" charset="-122"/>
                <a:cs typeface="Segoe UI" panose="020B0502040204020203" pitchFamily="34" charset="0"/>
              </a:rPr>
              <a:t>Bahnschrift</a:t>
            </a:r>
            <a:endParaRPr lang="en-SG" sz="2400" dirty="0">
              <a:effectLst/>
              <a:latin typeface="Bahnschrift" panose="020B0502040204020203" pitchFamily="34" charset="0"/>
              <a:ea typeface="SimSun" panose="02010600030101010101" pitchFamily="2" charset="-122"/>
              <a:cs typeface="Segoe UI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5C4A68-EB4F-1865-40FA-3B3E73CDD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Branding &amp; Visual Consistency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CB9A118E-E4C8-97F1-A764-C6A7C36357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3429000"/>
            <a:ext cx="3131840" cy="234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6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D03E-4572-D756-260F-05752674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F169C5C-6E46-9DBC-1790-9F743C7302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Mood board</a:t>
            </a:r>
            <a:endParaRPr lang="en-SG" sz="1800" b="1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96B06-7D59-B766-21A7-6069E37CF1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Branding &amp; Visual Consistency </a:t>
            </a:r>
          </a:p>
        </p:txBody>
      </p:sp>
      <p:pic>
        <p:nvPicPr>
          <p:cNvPr id="5" name="Picture 4" descr="A collage of different images of people in a tunnel&#10;&#10;AI-generated content may be incorrect.">
            <a:extLst>
              <a:ext uri="{FF2B5EF4-FFF2-40B4-BE49-F238E27FC236}">
                <a16:creationId xmlns:a16="http://schemas.microsoft.com/office/drawing/2014/main" id="{E46BC596-3476-7FE7-7682-E5AF512678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009" y="1731907"/>
            <a:ext cx="5544616" cy="443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1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7C7FA-FD54-A224-A2B6-E4FDDF0CB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3CFEFA3-2C8D-2FD5-5886-5FBCE50F28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Logo design and 3 concept sketches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Ensure all assets are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original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and well-structured for a portfolio.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AA5A34-5895-8E33-B0E8-B3BD425A4A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Creating Original Assets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Picture 2" descr="A drawing on a paper&#10;&#10;AI-generated content may be incorrect.">
            <a:extLst>
              <a:ext uri="{FF2B5EF4-FFF2-40B4-BE49-F238E27FC236}">
                <a16:creationId xmlns:a16="http://schemas.microsoft.com/office/drawing/2014/main" id="{C04C422F-80E3-F6D6-FF36-E65D8CF56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" t="11104" r="3579" b="42897"/>
          <a:stretch>
            <a:fillRect/>
          </a:stretch>
        </p:blipFill>
        <p:spPr>
          <a:xfrm rot="5400000">
            <a:off x="7752184" y="1793953"/>
            <a:ext cx="3988435" cy="4176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C37912-9EA3-5360-CFB1-395AEC47A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35" y="2797196"/>
            <a:ext cx="3449085" cy="31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9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E015-F277-8E27-297A-7C248799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518184F-618B-68BA-42C9-39DD818BB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Design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at least 5 custom assets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(e.g., icons for achievement, skillsets competency bar, contact, tab, etc).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Ensure all assets are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original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and well-structured for a portfolio.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SG" sz="1800" dirty="0">
              <a:effectLst/>
              <a:latin typeface="Segoe UI Emoji" panose="020B0502040204020203" pitchFamily="34" charset="0"/>
              <a:ea typeface="SimSun" panose="02010600030101010101" pitchFamily="2" charset="-122"/>
              <a:cs typeface="Segoe UI Emoji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Example:</a:t>
            </a:r>
            <a:b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 a </a:t>
            </a:r>
            <a:r>
              <a:rPr lang="en-SG" sz="1800" b="1" dirty="0">
                <a:ea typeface="SimSun" panose="02010600030101010101" pitchFamily="2" charset="-122"/>
                <a:cs typeface="Times New Roman" panose="02020603050405020304" pitchFamily="18" charset="0"/>
              </a:rPr>
              <a:t>icon 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that visually represents students’ competency.</a:t>
            </a:r>
            <a:b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SG" sz="1800" dirty="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endParaRPr lang="en-SG" sz="1800" b="1" dirty="0"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	    Skillset    	  </a:t>
            </a:r>
            <a:r>
              <a:rPr lang="en-SG" sz="1800" dirty="0">
                <a:ea typeface="SimSun" panose="02010600030101010101" pitchFamily="2" charset="-122"/>
                <a:cs typeface="Times New Roman" panose="02020603050405020304" pitchFamily="18" charset="0"/>
              </a:rPr>
              <a:t>Community Work         Achievements 	Progression</a:t>
            </a:r>
            <a:endParaRPr lang="en-SG" sz="1800" dirty="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98C432-41E6-9E9A-007C-ADE854F47A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Creating Original Assets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921DB-8765-1C2A-2F03-36E75856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5157192"/>
            <a:ext cx="965562" cy="720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F452E6-B514-7884-77F0-57C1C14A9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4772" y="5190312"/>
            <a:ext cx="797474" cy="751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EF4739-790C-21C2-10D0-A9A849929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928" y="5099906"/>
            <a:ext cx="965562" cy="847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C01E61-53C6-67BB-0E57-46AD199C7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173" y="5140614"/>
            <a:ext cx="965563" cy="7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55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DBA0A7-F577-2022-9526-5AE8EC509E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5 UI elements</a:t>
            </a:r>
          </a:p>
          <a:p>
            <a:r>
              <a:rPr lang="en-US" dirty="0"/>
              <a:t>1. email icon</a:t>
            </a:r>
          </a:p>
          <a:p>
            <a:r>
              <a:rPr lang="en-US" dirty="0"/>
              <a:t>2. IG icon</a:t>
            </a:r>
          </a:p>
          <a:p>
            <a:r>
              <a:rPr lang="en-US" dirty="0"/>
              <a:t>3. LinkedIn icon</a:t>
            </a:r>
          </a:p>
          <a:p>
            <a:r>
              <a:rPr lang="en-US" dirty="0"/>
              <a:t>4. Call icon</a:t>
            </a:r>
          </a:p>
          <a:p>
            <a:r>
              <a:rPr lang="en-US" dirty="0"/>
              <a:t>5. navbar icon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AB6D4-9032-2985-E6C4-B4F97F8F66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Custom Assets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892BC-9A89-1810-EC5E-78E68FBFF46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8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37BDD-586E-DACF-4701-F2A06E3BA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791802"/>
            <a:ext cx="4190974" cy="551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65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9C94-8547-9FDE-0E5D-6B9BB0AD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466D938-B637-693A-9827-60663483E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6858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Use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Photoshop’s AI features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(e.g., Generative Fill, AI-powered selection) or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Illustrator’s AI tools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(e.g., Vector recolouring, Auto-trace).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685800" algn="l"/>
              </a:tabLs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Submit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before-and-after screenshots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showing how AI tools improved your design.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SG" sz="1800" dirty="0">
              <a:effectLst/>
              <a:latin typeface="Segoe UI Emoji" panose="020B0502040204020203" pitchFamily="34" charset="0"/>
              <a:ea typeface="SimSun" panose="02010600030101010101" pitchFamily="2" charset="-122"/>
              <a:cs typeface="Segoe UI Emoji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Example:</a:t>
            </a:r>
            <a:endParaRPr lang="en-SG" sz="1800" dirty="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>
              <a:lnSpc>
                <a:spcPct val="115000"/>
              </a:lnSpc>
              <a:spcAft>
                <a:spcPts val="800"/>
              </a:spcAft>
            </a:pP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Use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Adobe Firefly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to generate a </a:t>
            </a: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background texture</a:t>
            </a:r>
            <a: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that enhances your interface’s modern look.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Before AI Enhancement</a:t>
            </a:r>
            <a:b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SG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Hand-drawn background with plain colours.</a:t>
            </a:r>
            <a:b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SG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After AI Enhancement</a:t>
            </a:r>
            <a:br>
              <a:rPr lang="en-SG" sz="18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SG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AI-generated background texture applied with better gradients and details.</a:t>
            </a:r>
            <a:endParaRPr lang="en-SG" sz="1800" dirty="0">
              <a:effectLst/>
              <a:latin typeface="Cambria" panose="020405030504060302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90BF3-BF7D-737A-379E-D6B92A7D58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AI-Assisted Design Tools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560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2F8E3A-FA3D-468E-BC24-297EDB9AA0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Generate a cyberpunk theme icon pack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CCE22-66C2-CA1B-93A0-AADFC45770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Adobe firefly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44A5F-C2C3-6A3C-09FC-951F73B62F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10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567D3-9969-7EA7-1E38-AEA9D2BB8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00808"/>
            <a:ext cx="5277028" cy="4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58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DF3F-1B7E-B1D0-8356-81B4941A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EEAB84-AD6D-B0D1-4164-037A3952BF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Write </a:t>
            </a:r>
            <a:r>
              <a:rPr lang="en-SG" sz="1800" b="1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three AI prompts</a:t>
            </a:r>
            <a:r>
              <a:rPr lang="en-SG" sz="1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for generating icons, textures, or design variations.</a:t>
            </a:r>
            <a:r>
              <a:rPr lang="en-SG" sz="18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DengXian" panose="02010600030101010101" pitchFamily="2" charset="-122"/>
              </a:rPr>
              <a:t>Show </a:t>
            </a:r>
            <a:r>
              <a:rPr lang="en-SG" sz="1800" b="1" dirty="0">
                <a:effectLst/>
                <a:latin typeface="Arial" panose="020B0604020202020204" pitchFamily="34" charset="0"/>
                <a:ea typeface="DengXian" panose="02010600030101010101" pitchFamily="2" charset="-122"/>
              </a:rPr>
              <a:t>AI-generated variations</a:t>
            </a:r>
            <a:r>
              <a:rPr lang="en-SG" sz="1800" dirty="0">
                <a:effectLst/>
                <a:latin typeface="Arial" panose="020B0604020202020204" pitchFamily="34" charset="0"/>
                <a:ea typeface="DengXian" panose="02010600030101010101" pitchFamily="2" charset="-122"/>
              </a:rPr>
              <a:t> and </a:t>
            </a:r>
            <a:r>
              <a:rPr lang="en-SG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</a:rPr>
              <a:t>justify your final selection.</a:t>
            </a:r>
            <a:endParaRPr lang="en-SG" sz="1800" dirty="0">
              <a:ea typeface="DengXian" panose="02010600030101010101" pitchFamily="2" charset="-122"/>
            </a:endParaRPr>
          </a:p>
          <a:p>
            <a:r>
              <a:rPr lang="en-SG" sz="1800" dirty="0">
                <a:ea typeface="DengXian" panose="02010600030101010101" pitchFamily="2" charset="-122"/>
              </a:rPr>
              <a:t>AI prompt 1: </a:t>
            </a:r>
            <a:r>
              <a:rPr lang="en-US" sz="1800" dirty="0">
                <a:ea typeface="DengXian" panose="02010600030101010101" pitchFamily="2" charset="-122"/>
              </a:rPr>
              <a:t>Generate a glowing neon email icon in the shape of an envelope, centered on a dark background. Use cyan or light blue for the glow. Flat style, minimal, futuristic</a:t>
            </a:r>
            <a:endParaRPr lang="en-SG" sz="1800" dirty="0">
              <a:ea typeface="DengXian" panose="02010600030101010101" pitchFamily="2" charset="-122"/>
            </a:endParaRPr>
          </a:p>
          <a:p>
            <a:r>
              <a:rPr lang="en-SG" sz="1800" dirty="0">
                <a:ea typeface="DengXian" panose="02010600030101010101" pitchFamily="2" charset="-122"/>
              </a:rPr>
              <a:t>AI prompt 2: </a:t>
            </a:r>
            <a:r>
              <a:rPr lang="en-US" sz="1800" dirty="0">
                <a:ea typeface="DengXian" panose="02010600030101010101" pitchFamily="2" charset="-122"/>
              </a:rPr>
              <a:t>create a app icon with camera shape; neon gradient outline</a:t>
            </a:r>
            <a:endParaRPr lang="en-SG" sz="1800" dirty="0">
              <a:ea typeface="DengXian" panose="02010600030101010101" pitchFamily="2" charset="-122"/>
            </a:endParaRPr>
          </a:p>
          <a:p>
            <a:r>
              <a:rPr lang="en-SG" sz="1800" dirty="0">
                <a:ea typeface="DengXian" panose="02010600030101010101" pitchFamily="2" charset="-122"/>
              </a:rPr>
              <a:t>AI prompt 3: </a:t>
            </a:r>
            <a:r>
              <a:rPr lang="en-US" sz="1800" dirty="0">
                <a:ea typeface="DengXian" panose="02010600030101010101" pitchFamily="2" charset="-122"/>
              </a:rPr>
              <a:t>create a app icon with cell phone shape; neon gradient outline</a:t>
            </a:r>
          </a:p>
          <a:p>
            <a:r>
              <a:rPr lang="en-US" sz="1800" dirty="0">
                <a:ea typeface="DengXian" panose="02010600030101010101" pitchFamily="2" charset="-122"/>
              </a:rPr>
              <a:t>I chose the middle one because it looks the most like a real app icon , the rest look to simple like an illustration</a:t>
            </a:r>
            <a:endParaRPr lang="en-SG" sz="1800" dirty="0">
              <a:ea typeface="DengXian" panose="02010600030101010101" pitchFamily="2" charset="-122"/>
            </a:endParaRPr>
          </a:p>
          <a:p>
            <a:endParaRPr lang="en-SG" sz="1800" dirty="0">
              <a:solidFill>
                <a:schemeClr val="bg1">
                  <a:lumMod val="50000"/>
                </a:schemeClr>
              </a:solidFill>
              <a:ea typeface="DengXian" panose="02010600030101010101" pitchFamily="2" charset="-122"/>
            </a:endParaRP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743EC6-8B41-D4F1-FF9E-FA80FFE0B7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Prompt Design &amp; AI Collaboration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228E00-7834-B406-B543-A07FC0792519}"/>
              </a:ext>
            </a:extLst>
          </p:cNvPr>
          <p:cNvSpPr/>
          <p:nvPr/>
        </p:nvSpPr>
        <p:spPr>
          <a:xfrm>
            <a:off x="5123892" y="4437112"/>
            <a:ext cx="2016224" cy="201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546EB-7827-E452-D8D2-53388A492B31}"/>
              </a:ext>
            </a:extLst>
          </p:cNvPr>
          <p:cNvSpPr/>
          <p:nvPr/>
        </p:nvSpPr>
        <p:spPr>
          <a:xfrm>
            <a:off x="7752184" y="4437112"/>
            <a:ext cx="2016224" cy="201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Badge 1 outline">
            <a:extLst>
              <a:ext uri="{FF2B5EF4-FFF2-40B4-BE49-F238E27FC236}">
                <a16:creationId xmlns:a16="http://schemas.microsoft.com/office/drawing/2014/main" id="{C2CE5F62-83E6-8A6E-1DA4-536FCB015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6512" y="4962864"/>
            <a:ext cx="914400" cy="914400"/>
          </a:xfrm>
          <a:prstGeom prst="rect">
            <a:avLst/>
          </a:prstGeom>
        </p:spPr>
      </p:pic>
      <p:pic>
        <p:nvPicPr>
          <p:cNvPr id="10" name="Graphic 9" descr="Badge outline">
            <a:extLst>
              <a:ext uri="{FF2B5EF4-FFF2-40B4-BE49-F238E27FC236}">
                <a16:creationId xmlns:a16="http://schemas.microsoft.com/office/drawing/2014/main" id="{F2BB3C58-FCD2-3339-9485-84968C7F7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4804" y="4988024"/>
            <a:ext cx="914400" cy="914400"/>
          </a:xfrm>
          <a:prstGeom prst="rect">
            <a:avLst/>
          </a:prstGeom>
        </p:spPr>
      </p:pic>
      <p:pic>
        <p:nvPicPr>
          <p:cNvPr id="12" name="Graphic 11" descr="Badge 3 outline">
            <a:extLst>
              <a:ext uri="{FF2B5EF4-FFF2-40B4-BE49-F238E27FC236}">
                <a16:creationId xmlns:a16="http://schemas.microsoft.com/office/drawing/2014/main" id="{C7D18324-579D-312C-40EA-DC5247F42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3096" y="4962864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EA80AC-F762-F4A8-507A-955E4C079F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8894" y="4563222"/>
            <a:ext cx="2475435" cy="2016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E3D5B4-9321-E275-3E5B-2C99C61E08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6588" y="4444063"/>
            <a:ext cx="2321061" cy="23210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9059F2-591B-EAD8-2062-DDE895A4FE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7430" y="4410803"/>
            <a:ext cx="2488044" cy="232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6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6D2FE-B6F5-E059-B5C3-34D583B7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9797D2-0739-8208-3A76-E0254744B1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1384" y="1409480"/>
            <a:ext cx="10369152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lang="en-GB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: Instagram Grid, or banner or sticker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b="1" dirty="0">
                <a:ea typeface="SimSun" panose="02010600030101010101" pitchFamily="2" charset="-122"/>
                <a:cs typeface="Times New Roman" panose="02020603050405020304" pitchFamily="18" charset="0"/>
              </a:rPr>
              <a:t>3 sketches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Design conceptualisation and r</a:t>
            </a:r>
            <a:r>
              <a:rPr lang="en-GB" b="1" dirty="0">
                <a:ea typeface="SimSun" panose="02010600030101010101" pitchFamily="2" charset="-122"/>
                <a:cs typeface="Times New Roman" panose="02020603050405020304" pitchFamily="18" charset="0"/>
              </a:rPr>
              <a:t>ationale</a:t>
            </a:r>
            <a:r>
              <a:rPr lang="en-GB" b="1" dirty="0"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r>
              <a:rPr lang="en-GB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 chose to do Instagram Grid</a:t>
            </a:r>
            <a:r>
              <a:rPr lang="en-GB" b="1" dirty="0"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dirty="0"/>
              <a:t>The design is built around a central "neon" theme, aiming for a modern and energetic look. Color Choice: The bright pink and blue colors stand out strongly against the dark background. This high contrast is designed to be eye-catching and immediately draw attention.</a:t>
            </a:r>
          </a:p>
          <a:p>
            <a:r>
              <a:rPr lang="en-US" dirty="0"/>
              <a:t>Text Style: It uses two different fonts. The main font is styled to look like glowing neon tubes, which clearly communicates the theme. A secondary script font is used to add visual interest and a more personal touch.</a:t>
            </a:r>
          </a:p>
          <a:p>
            <a:r>
              <a:rPr lang="en-US" dirty="0"/>
              <a:t>Imagery: The graphics, like the logo and the headphones, are kept simple. The product photo is integrated into the theme with a neon outline, which helps maintain a consistent look across all the posts.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GB" sz="1800" b="1" dirty="0">
              <a:effectLst/>
              <a:latin typeface="Arial" panose="020B06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81E5C4-EE54-DD36-E250-077CFD025A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400" y="253918"/>
            <a:ext cx="5871836" cy="623667"/>
          </a:xfrm>
        </p:spPr>
        <p:txBody>
          <a:bodyPr/>
          <a:lstStyle/>
          <a:p>
            <a:r>
              <a:rPr lang="en-GB" dirty="0"/>
              <a:t>Final Artwork (Social Media)</a:t>
            </a:r>
          </a:p>
          <a:p>
            <a:endParaRPr lang="en-GB" dirty="0"/>
          </a:p>
          <a:p>
            <a:endParaRPr lang="en-GB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64107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few drawings of different faces&#10;&#10;AI-generated content may be incorrect.">
            <a:extLst>
              <a:ext uri="{FF2B5EF4-FFF2-40B4-BE49-F238E27FC236}">
                <a16:creationId xmlns:a16="http://schemas.microsoft.com/office/drawing/2014/main" id="{A3374161-7847-4057-0823-65203E5EBE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145" y="321734"/>
            <a:ext cx="2178877" cy="2905170"/>
          </a:xfrm>
          <a:prstGeom prst="rect">
            <a:avLst/>
          </a:prstGeom>
        </p:spPr>
      </p:pic>
      <p:pic>
        <p:nvPicPr>
          <p:cNvPr id="7" name="Picture 6" descr="A close-up of a handwritten text&#10;&#10;AI-generated content may be incorrect.">
            <a:extLst>
              <a:ext uri="{FF2B5EF4-FFF2-40B4-BE49-F238E27FC236}">
                <a16:creationId xmlns:a16="http://schemas.microsoft.com/office/drawing/2014/main" id="{A2B616C4-4D3E-6B4E-FF7A-DFBB44F90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109176"/>
            <a:ext cx="5426764" cy="18043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625C4-794F-A645-2AB3-5ACB0230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015600C-AC52-4A7A-B61A-C2D281744F97}" type="slidenum">
              <a:rPr lang="en-SG" smtClean="0"/>
              <a:pPr>
                <a:spcAft>
                  <a:spcPts val="600"/>
                </a:spcAft>
              </a:pPr>
              <a:t>13</a:t>
            </a:fld>
            <a:endParaRPr lang="en-SG"/>
          </a:p>
        </p:txBody>
      </p:sp>
      <p:pic>
        <p:nvPicPr>
          <p:cNvPr id="5" name="Picture 4" descr="A few sketches of logos&#10;&#10;AI-generated content may be incorrect.">
            <a:extLst>
              <a:ext uri="{FF2B5EF4-FFF2-40B4-BE49-F238E27FC236}">
                <a16:creationId xmlns:a16="http://schemas.microsoft.com/office/drawing/2014/main" id="{CD56890B-6B54-85D3-0D65-FD2F94EE4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195" y="321734"/>
            <a:ext cx="4552441" cy="60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67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1F14-6FB8-0840-96D3-01DD2116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9BB95D3-9AAC-10BF-DAF7-C921407CE9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Images of your </a:t>
            </a:r>
            <a:r>
              <a:rPr lang="en-GB" sz="1800" b="1" dirty="0"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ocial media branding FA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65BE3F-9679-01A2-B898-DB9E80DB18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Final Artwork (Social Media)</a:t>
            </a:r>
          </a:p>
          <a:p>
            <a:endParaRPr lang="en-GB" dirty="0"/>
          </a:p>
          <a:p>
            <a:endParaRPr lang="en-GB" dirty="0"/>
          </a:p>
          <a:p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0FF6D-DE9A-8451-A8F7-3D2704998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888"/>
            <a:ext cx="12192000" cy="393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1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7F2D-1825-6C6E-AFFD-C086F9A2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1AEF40-03AD-D271-F14E-D1589E9D8C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Images of your </a:t>
            </a:r>
            <a:r>
              <a:rPr lang="en-GB" sz="1800" b="1" dirty="0">
                <a:ea typeface="SimSun" panose="02010600030101010101" pitchFamily="2" charset="-122"/>
                <a:cs typeface="Times New Roman" panose="02020603050405020304" pitchFamily="18" charset="0"/>
              </a:rPr>
              <a:t>Portfolio web pages</a:t>
            </a: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FA (Home page, </a:t>
            </a:r>
            <a:r>
              <a:rPr lang="en-GB" sz="1800" b="1" dirty="0"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Portfolio</a:t>
            </a: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711887-257E-EA6E-F02D-4C2CA37937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Final Artwork (Portfolio Web pages)</a:t>
            </a:r>
          </a:p>
          <a:p>
            <a:endParaRPr lang="en-GB" dirty="0"/>
          </a:p>
          <a:p>
            <a:r>
              <a:rPr lang="en-GB" sz="20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2A35A-BF17-1A50-8E3E-DAD1DE28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10" y="2302938"/>
            <a:ext cx="1087906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2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9316-4E14-B866-6755-889C292D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A095B3-EC25-A582-725D-0FC6C8BF3A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758148"/>
            <a:ext cx="10766566" cy="4479164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Images of your </a:t>
            </a:r>
            <a:r>
              <a:rPr lang="en-GB" sz="1800" b="1" dirty="0">
                <a:ea typeface="SimSun" panose="02010600030101010101" pitchFamily="2" charset="-122"/>
                <a:cs typeface="Times New Roman" panose="02020603050405020304" pitchFamily="18" charset="0"/>
              </a:rPr>
              <a:t>Portfolio web pages</a:t>
            </a: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FA (</a:t>
            </a:r>
            <a:r>
              <a:rPr lang="en-GB" sz="1800" b="1" dirty="0"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About</a:t>
            </a:r>
            <a:r>
              <a:rPr lang="en-GB" sz="18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Contact)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A1E3E9-C1FA-C669-EC35-415F94C304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Final Artwork (Portfolio Web pages)</a:t>
            </a:r>
          </a:p>
          <a:p>
            <a:endParaRPr lang="en-GB" dirty="0"/>
          </a:p>
          <a:p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F11B3-0133-5C01-B32E-BE5DA35AA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0" y="2708920"/>
            <a:ext cx="10774279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70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2C335-D366-9132-2EC1-0AB7E657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64D9F-F726-88E5-2BA6-4A5786D090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593023"/>
            <a:ext cx="10766566" cy="4479164"/>
          </a:xfrm>
        </p:spPr>
        <p:txBody>
          <a:bodyPr/>
          <a:lstStyle/>
          <a:p>
            <a:r>
              <a:rPr lang="en-US" dirty="0"/>
              <a:t>This assignment helped me explore how branding, color theory, and AI tools come together to build a unique digital identity. I struggled with designing original assets and using Illustrator efficiently, but AI tools helped speed up the process. I’m proud of how the neon theme came together, and I plan to continue refining my design and coding skills for future projects.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34C391-B8AC-5A1E-2D75-59A9CB4E64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Conclusion (Reflections, Challenges)</a:t>
            </a:r>
          </a:p>
        </p:txBody>
      </p:sp>
    </p:spTree>
    <p:extLst>
      <p:ext uri="{BB962C8B-B14F-4D97-AF65-F5344CB8AC3E}">
        <p14:creationId xmlns:p14="http://schemas.microsoft.com/office/powerpoint/2010/main" val="1233695236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783C0485EDD345BB93DC8AB8F76B5C" ma:contentTypeVersion="0" ma:contentTypeDescription="Create a new document." ma:contentTypeScope="" ma:versionID="ef13358ef94229bf04a82b2cb1065bb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34039F-10D0-4855-9B9A-CCC9162F82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86F51D-D6D3-4B60-B87E-496CB6AD85EB}">
  <ds:schemaRefs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37CD2D1-BB9C-43B3-BF49-8434ABBF6D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b70f6a2e-9a0b-44bc-9fcb-55781401e2f0}" enabled="1" method="Standar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12368</TotalTime>
  <Words>866</Words>
  <Application>Microsoft Office PowerPoint</Application>
  <PresentationFormat>Widescreen</PresentationFormat>
  <Paragraphs>89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37" baseType="lpstr">
      <vt:lpstr>DengXian</vt:lpstr>
      <vt:lpstr>SimSun</vt:lpstr>
      <vt:lpstr>Aptos</vt:lpstr>
      <vt:lpstr>Arial</vt:lpstr>
      <vt:lpstr>Arial Black</vt:lpstr>
      <vt:lpstr>Arial Rounded MT Bold</vt:lpstr>
      <vt:lpstr>Bahnschrift</vt:lpstr>
      <vt:lpstr>Calibri</vt:lpstr>
      <vt:lpstr>Calibri Light</vt:lpstr>
      <vt:lpstr>Calisto MT</vt:lpstr>
      <vt:lpstr>Cambria</vt:lpstr>
      <vt:lpstr>Congenial UltraLight</vt:lpstr>
      <vt:lpstr>Montserrat SemiBold</vt:lpstr>
      <vt:lpstr>Orbitron ExtraBold</vt:lpstr>
      <vt:lpstr>Segoe UI Emoji</vt:lpstr>
      <vt:lpstr>Symbol</vt:lpstr>
      <vt:lpstr>Wingdings 2</vt:lpstr>
      <vt:lpstr>Office Theme</vt:lpstr>
      <vt:lpstr>Custom Design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Republic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Design?</dc:title>
  <dc:creator>Beverly Lin</dc:creator>
  <cp:lastModifiedBy>ARSHADHA</cp:lastModifiedBy>
  <cp:revision>569</cp:revision>
  <dcterms:created xsi:type="dcterms:W3CDTF">2016-04-13T14:13:22Z</dcterms:created>
  <dcterms:modified xsi:type="dcterms:W3CDTF">2025-08-01T22:38:18Z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0x01010088783C0485EDD345BB93DC8AB8F76B5C</vt:lpwstr>
  </property>
  <property fmtid="{D5CDD505-2E9C-101B-9397-08002B2CF9AE}" pid="3" name="MSIP_Label_b70f6a2e-9a0b-44bc-9fcb-55781401e2f0_Enabled">
    <vt:lpwstr>true</vt:lpwstr>
  </property>
  <property fmtid="{D5CDD505-2E9C-101B-9397-08002B2CF9AE}" pid="4" name="MSIP_Label_b70f6a2e-9a0b-44bc-9fcb-55781401e2f0_SetDate">
    <vt:lpwstr>2021-05-19T04:21:22Z</vt:lpwstr>
  </property>
  <property fmtid="{D5CDD505-2E9C-101B-9397-08002B2CF9AE}" pid="5" name="MSIP_Label_b70f6a2e-9a0b-44bc-9fcb-55781401e2f0_Method">
    <vt:lpwstr>Standard</vt:lpwstr>
  </property>
  <property fmtid="{D5CDD505-2E9C-101B-9397-08002B2CF9AE}" pid="6" name="MSIP_Label_b70f6a2e-9a0b-44bc-9fcb-55781401e2f0_Name">
    <vt:lpwstr>NON-SENSITIVE</vt:lpwstr>
  </property>
  <property fmtid="{D5CDD505-2E9C-101B-9397-08002B2CF9AE}" pid="7" name="MSIP_Label_b70f6a2e-9a0b-44bc-9fcb-55781401e2f0_SiteId">
    <vt:lpwstr>f688b0d0-79f0-40a4-8644-35fcdee9d0f3</vt:lpwstr>
  </property>
  <property fmtid="{D5CDD505-2E9C-101B-9397-08002B2CF9AE}" pid="8" name="MSIP_Label_b70f6a2e-9a0b-44bc-9fcb-55781401e2f0_ActionId">
    <vt:lpwstr>6c98555e-9d06-4fcd-913a-948879cdee5f</vt:lpwstr>
  </property>
  <property fmtid="{D5CDD505-2E9C-101B-9397-08002B2CF9AE}" pid="9" name="MSIP_Label_b70f6a2e-9a0b-44bc-9fcb-55781401e2f0_ContentBits">
    <vt:lpwstr>1</vt:lpwstr>
  </property>
</Properties>
</file>